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D1979"/>
                </a:solidFill>
              </a:defRPr>
            </a:pPr>
            <a:r>
              <a:t>Week 1: Introduction to Creative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DCDA 30833 – Creative Coding for the Humanities</a:t>
            </a:r>
          </a:p>
          <a:p>
            <a:pPr>
              <a:defRPr sz="2000"/>
            </a:pPr>
            <a:r>
              <a:t>Code as artistic material</a:t>
            </a:r>
          </a:p>
          <a:p>
            <a:pPr>
              <a:defRPr sz="2000"/>
            </a:pPr>
            <a:r>
              <a:t>Form = content; systems dramatize states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D1979"/>
                </a:solidFill>
              </a:defRPr>
            </a:pPr>
            <a:r>
              <a:t>What Creative Coding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Not decoration of ideas</a:t>
            </a:r>
          </a:p>
          <a:p>
            <a:pPr>
              <a:defRPr sz="2000"/>
            </a:pPr>
            <a:r>
              <a:t>Art through systems, rules, behaviors</a:t>
            </a:r>
          </a:p>
          <a:p>
            <a:pPr>
              <a:defRPr sz="2000"/>
            </a:pPr>
            <a:r>
              <a:t>Exploration &gt; self-expression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D1979"/>
                </a:solidFill>
              </a:defRPr>
            </a:pPr>
            <a:r>
              <a:t>p5.js 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Canvas, setup(), draw()</a:t>
            </a:r>
          </a:p>
          <a:p>
            <a:pPr>
              <a:defRPr sz="2000"/>
            </a:pPr>
            <a:r>
              <a:t>Shapes, color, motion</a:t>
            </a:r>
          </a:p>
          <a:p>
            <a:pPr>
              <a:defRPr sz="1600">
                <a:latin typeface="Courier New"/>
              </a:defRPr>
            </a:pPr>
            <a:r>
              <a:t>function setup(){createCanvas(400,400);} </a:t>
            </a:r>
            <a:br/>
            <a:r>
              <a:t>function draw(){background(220); circle(mouseX,mouseY,40);}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D1979"/>
                </a:solidFill>
              </a:defRPr>
            </a:pPr>
            <a:r>
              <a:t>Mini-Assignment: Shape Self-Portrait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400×400</a:t>
            </a:r>
          </a:p>
          <a:p>
            <a:pPr>
              <a:defRPr sz="2000"/>
            </a:pPr>
            <a:r>
              <a:t>Only shapes</a:t>
            </a:r>
          </a:p>
          <a:p>
            <a:pPr>
              <a:defRPr sz="2000"/>
            </a:pPr>
            <a:r>
              <a:t>3+ shape types</a:t>
            </a:r>
          </a:p>
          <a:p>
            <a:pPr>
              <a:defRPr sz="2000"/>
            </a:pPr>
            <a:r>
              <a:t>1+ custom color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D1979"/>
                </a:solidFill>
              </a:defRPr>
            </a:pPr>
            <a:r>
              <a:t>Week 2: Poems &amp;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Poems dramatize states of thought/feeling</a:t>
            </a:r>
          </a:p>
          <a:p>
            <a:pPr>
              <a:defRPr sz="2000"/>
            </a:pPr>
            <a:r>
              <a:t>Systems dramatize behaviors/logic</a:t>
            </a:r>
          </a:p>
          <a:p>
            <a:pPr>
              <a:defRPr sz="2000"/>
            </a:pPr>
            <a:r>
              <a:t>Meaning emerges from interaction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D1979"/>
                </a:solidFill>
              </a:defRPr>
            </a:pPr>
            <a:r>
              <a:t>System Aesthetics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Randomness</a:t>
            </a:r>
          </a:p>
          <a:p>
            <a:pPr>
              <a:defRPr sz="2000"/>
            </a:pPr>
            <a:r>
              <a:t>Noise</a:t>
            </a:r>
          </a:p>
          <a:p>
            <a:pPr>
              <a:defRPr sz="2000"/>
            </a:pPr>
            <a:r>
              <a:t>Repetition</a:t>
            </a:r>
          </a:p>
          <a:p>
            <a:pPr>
              <a:defRPr sz="2000"/>
            </a:pPr>
            <a:r>
              <a:t>Interaction</a:t>
            </a:r>
          </a:p>
          <a:p>
            <a:pPr>
              <a:defRPr sz="2000"/>
            </a:pPr>
            <a:r>
              <a:t>Emergence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D1979"/>
                </a:solidFill>
              </a:defRPr>
            </a:pPr>
            <a:r>
              <a:t>Example: Drift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Dramatizing calm drifting motion</a:t>
            </a:r>
          </a:p>
          <a:p>
            <a:pPr>
              <a:defRPr sz="1600">
                <a:latin typeface="Courier New"/>
              </a:defRPr>
            </a:pPr>
            <a:r>
              <a:t>let x=noise(frameCount*0.01)*width;</a:t>
            </a:r>
            <a:br/>
            <a:r>
              <a:t>let y=noise(frameCount*0.01+999)*height;</a:t>
            </a:r>
            <a:br/>
            <a:r>
              <a:t>ellipse(x,y,40,40);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D1979"/>
                </a:solidFill>
              </a:defRPr>
            </a:pPr>
            <a:r>
              <a:t>Example: 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Jitter + proximity</a:t>
            </a:r>
          </a:p>
          <a:p>
            <a:pPr>
              <a:defRPr sz="1600">
                <a:latin typeface="Courier New"/>
              </a:defRPr>
            </a:pPr>
            <a:r>
              <a:t>let x=width/2+random(-5,5);</a:t>
            </a:r>
            <a:br/>
            <a:r>
              <a:t>let y=height/2+random(-5,5);</a:t>
            </a:r>
            <a:br/>
            <a:r>
              <a:t>line(width/2,height/2,x,y);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D1979"/>
                </a:solidFill>
              </a:defRPr>
            </a:pPr>
            <a:r>
              <a:t>In-Class Exercise: Dramatize a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Choose: calm, tension, swarm, drift, hesitation</a:t>
            </a:r>
          </a:p>
          <a:p>
            <a:pPr>
              <a:defRPr sz="2000"/>
            </a:pPr>
            <a:r>
              <a:t>Write a 20–30 line sketch</a:t>
            </a:r>
          </a:p>
          <a:p>
            <a:pPr>
              <a:defRPr sz="2000"/>
            </a:pPr>
            <a:r>
              <a:t>Use noise, randomness, repetition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D1979"/>
                </a:solidFill>
              </a:defRPr>
            </a:pPr>
            <a:r>
              <a:t>Reflection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What state did your system dramatize?</a:t>
            </a:r>
          </a:p>
          <a:p>
            <a:pPr>
              <a:defRPr sz="2000"/>
            </a:pPr>
            <a:r>
              <a:t>What surprised you?</a:t>
            </a:r>
          </a:p>
          <a:p>
            <a:pPr>
              <a:defRPr sz="2000"/>
            </a:pPr>
            <a:r>
              <a:t>How did form become content?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